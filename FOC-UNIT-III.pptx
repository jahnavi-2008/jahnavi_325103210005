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60" r:id="rId4"/>
    <p:sldId id="258" r:id="rId5"/>
    <p:sldId id="290" r:id="rId6"/>
    <p:sldId id="339" r:id="rId7"/>
    <p:sldId id="259" r:id="rId8"/>
    <p:sldId id="340" r:id="rId9"/>
    <p:sldId id="263" r:id="rId10"/>
    <p:sldId id="266" r:id="rId11"/>
    <p:sldId id="261" r:id="rId12"/>
    <p:sldId id="345" r:id="rId13"/>
    <p:sldId id="346" r:id="rId14"/>
    <p:sldId id="347" r:id="rId15"/>
    <p:sldId id="348" r:id="rId16"/>
    <p:sldId id="357" r:id="rId17"/>
    <p:sldId id="353" r:id="rId18"/>
    <p:sldId id="352" r:id="rId19"/>
    <p:sldId id="350" r:id="rId20"/>
    <p:sldId id="35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0" d="100"/>
          <a:sy n="70" d="100"/>
        </p:scale>
        <p:origin x="118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D49CD5-1FB1-408B-82E1-96E721378BAF}" type="datetimeFigureOut">
              <a:rPr lang="en-US" smtClean="0"/>
              <a:t>10/8/2025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DEAB1C-6488-4F4E-AE3E-B49B9980B25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t>10/8/2025</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t>10/8/2025</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system-software/" TargetMode="External"/><Relationship Id="rId2" Type="http://schemas.openxmlformats.org/officeDocument/2006/relationships/hyperlink" Target="https://www.geeksforgeeks.org/computer-hardware/"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676400"/>
            <a:ext cx="8382000" cy="1447800"/>
          </a:xfrm>
        </p:spPr>
        <p:txBody>
          <a:bodyPr/>
          <a:lstStyle/>
          <a:p>
            <a:pPr algn="ctr"/>
            <a:r>
              <a:rPr lang="en-US" sz="4000" dirty="0">
                <a:latin typeface="Times New Roman" panose="02020603050405020304" pitchFamily="18" charset="0"/>
                <a:cs typeface="Times New Roman" panose="02020603050405020304" pitchFamily="18" charset="0"/>
              </a:rPr>
              <a:t>FUNDAMENTALS OF COMPUTERS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solidFill>
                  <a:srgbClr val="C00000"/>
                </a:solidFill>
              </a:rPr>
              <a:t>UNIT-III</a:t>
            </a:r>
            <a:br>
              <a:rPr lang="en-US" sz="3600" dirty="0">
                <a:solidFill>
                  <a:srgbClr val="C00000"/>
                </a:solidFill>
              </a:rPr>
            </a:br>
            <a:r>
              <a:rPr lang="en-US" sz="3600" b="1" dirty="0">
                <a:latin typeface="Times New Roman" panose="02020603050405020304" pitchFamily="18" charset="0"/>
                <a:cs typeface="Times New Roman" panose="02020603050405020304" pitchFamily="18" charset="0"/>
                <a:sym typeface="+mn-ea"/>
              </a:rPr>
              <a:t>Computer Software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417955"/>
            <a:ext cx="8229600" cy="4550410"/>
          </a:xfrm>
        </p:spPr>
        <p:txBody>
          <a:bodyPr>
            <a:normAutofit/>
          </a:bodyPr>
          <a:lstStyle/>
          <a:p>
            <a:pPr>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sym typeface="+mn-ea"/>
              </a:rPr>
              <a:t>       </a:t>
            </a:r>
            <a:r>
              <a:rPr lang="en-US" sz="2800" dirty="0">
                <a:latin typeface="Times New Roman" panose="02020603050405020304" pitchFamily="18" charset="0"/>
                <a:cs typeface="Times New Roman" panose="02020603050405020304" pitchFamily="18" charset="0"/>
                <a:sym typeface="+mn-ea"/>
              </a:rPr>
              <a:t>Introduction to Computer Software</a:t>
            </a:r>
            <a:r>
              <a:rPr lang="en-US" sz="2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sym typeface="+mn-ea"/>
              </a:rPr>
              <a:t>      Classification of Computer Software</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sym typeface="+mn-ea"/>
              </a:rPr>
              <a:t>      System Software, Application software</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sym typeface="+mn-ea"/>
              </a:rPr>
              <a:t>      Graphics Software</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sym typeface="+mn-ea"/>
              </a:rPr>
              <a:t>Multimedia Software</a:t>
            </a: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sym typeface="+mn-ea"/>
              </a:rPr>
              <a:t>       Database Management Software</a:t>
            </a: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sym typeface="+mn-ea"/>
              </a:rPr>
              <a:t>       Firmware, Middleware</a:t>
            </a: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sym typeface="+mn-ea"/>
              </a:rPr>
              <a:t>       Procuring Computer Software</a:t>
            </a:r>
          </a:p>
          <a:p>
            <a:pPr>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pPr marL="114300" indent="0">
              <a:buNone/>
            </a:pPr>
            <a:endParaRPr lang="en-US" sz="2600" dirty="0">
              <a:latin typeface="Times New Roman" panose="02020603050405020304" pitchFamily="18" charset="0"/>
              <a:cs typeface="Times New Roman" panose="02020603050405020304" pitchFamily="18" charset="0"/>
            </a:endParaRPr>
          </a:p>
          <a:p>
            <a:pPr marL="114300" indent="0">
              <a:buNone/>
            </a:pPr>
            <a:endParaRPr lang="en-US" sz="1400" u="sng"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48665"/>
            <a:ext cx="8229600" cy="5854700"/>
          </a:xfrm>
        </p:spPr>
        <p:txBody>
          <a:bodyPr>
            <a:normAutofit fontScale="37500" lnSpcReduction="20000"/>
          </a:bodyPr>
          <a:lstStyle/>
          <a:p>
            <a:pPr algn="just"/>
            <a:r>
              <a:rPr lang="en-US" sz="7000" dirty="0">
                <a:solidFill>
                  <a:schemeClr val="tx2"/>
                </a:solidFill>
                <a:latin typeface="Times New Roman" panose="02020603050405020304" pitchFamily="18" charset="0"/>
                <a:cs typeface="Times New Roman" panose="02020603050405020304" pitchFamily="18" charset="0"/>
                <a:sym typeface="+mn-ea"/>
              </a:rPr>
              <a:t>Computer Software is a collection of instructions, data, or computer programs that are used to run machines and carry out particular activities.</a:t>
            </a:r>
          </a:p>
          <a:p>
            <a:pPr algn="just"/>
            <a:r>
              <a:rPr lang="en-US" sz="7000" dirty="0">
                <a:solidFill>
                  <a:schemeClr val="tx2"/>
                </a:solidFill>
                <a:latin typeface="Times New Roman" panose="02020603050405020304" pitchFamily="18" charset="0"/>
                <a:cs typeface="Times New Roman" panose="02020603050405020304" pitchFamily="18" charset="0"/>
                <a:sym typeface="+mn-ea"/>
              </a:rPr>
              <a:t>It is a collection of programs, procedures, and documentation that performs different tasks on a computer system. It actually tells the computer what to do and how to do it.	</a:t>
            </a:r>
          </a:p>
          <a:p>
            <a:pPr algn="just"/>
            <a:r>
              <a:rPr lang="en-US" sz="7000" dirty="0">
                <a:solidFill>
                  <a:schemeClr val="tx2"/>
                </a:solidFill>
                <a:latin typeface="Times New Roman" panose="02020603050405020304" pitchFamily="18" charset="0"/>
                <a:cs typeface="Times New Roman" panose="02020603050405020304" pitchFamily="18" charset="0"/>
                <a:sym typeface="+mn-ea"/>
              </a:rPr>
              <a:t>Computer software is programming code executed on a computer processor. The code can be machine-level code, or code written for an operating system.</a:t>
            </a:r>
          </a:p>
          <a:p>
            <a:pPr algn="just"/>
            <a:r>
              <a:rPr lang="en-US" sz="7000" dirty="0">
                <a:solidFill>
                  <a:schemeClr val="tx2"/>
                </a:solidFill>
                <a:latin typeface="Times New Roman" panose="02020603050405020304" pitchFamily="18" charset="0"/>
                <a:cs typeface="Times New Roman" panose="02020603050405020304" pitchFamily="18" charset="0"/>
              </a:rPr>
              <a:t>In a computer system, the software is basically a set of instructions or commands that tell a computer what to do. In other words, the software is a computer program that provides a set of instructions to execute a user’s commands and tell the computer what to do.</a:t>
            </a:r>
          </a:p>
          <a:p>
            <a:pPr marL="114300" indent="0" algn="just">
              <a:buNone/>
            </a:pPr>
            <a:r>
              <a:rPr lang="en-US" sz="7000" dirty="0">
                <a:latin typeface="Times New Roman" panose="02020603050405020304" pitchFamily="18" charset="0"/>
                <a:cs typeface="Times New Roman" panose="02020603050405020304" pitchFamily="18" charset="0"/>
              </a:rPr>
              <a:t>	</a:t>
            </a:r>
          </a:p>
          <a:p>
            <a:pPr marL="114300" indent="0" algn="just">
              <a:buNone/>
            </a:pPr>
            <a:r>
              <a:rPr lang="en-US" sz="2400" dirty="0"/>
              <a:t>.</a:t>
            </a:r>
            <a:endParaRPr lang="en-US" sz="2400" b="1" u="sng" dirty="0"/>
          </a:p>
        </p:txBody>
      </p:sp>
      <p:sp>
        <p:nvSpPr>
          <p:cNvPr id="4" name="Text Box 3"/>
          <p:cNvSpPr txBox="1"/>
          <p:nvPr/>
        </p:nvSpPr>
        <p:spPr>
          <a:xfrm>
            <a:off x="381000" y="152400"/>
            <a:ext cx="6309360" cy="517525"/>
          </a:xfrm>
          <a:prstGeom prst="rect">
            <a:avLst/>
          </a:prstGeom>
          <a:noFill/>
        </p:spPr>
        <p:txBody>
          <a:bodyPr wrap="square" rtlCol="0">
            <a:noAutofit/>
          </a:bodyPr>
          <a:lstStyle/>
          <a:p>
            <a:r>
              <a:rPr lang="en-US" b="1" dirty="0">
                <a:solidFill>
                  <a:srgbClr val="C00000"/>
                </a:solidFill>
                <a:latin typeface="Times New Roman" panose="02020603050405020304" pitchFamily="18" charset="0"/>
                <a:cs typeface="Times New Roman" panose="02020603050405020304" pitchFamily="18" charset="0"/>
                <a:sym typeface="+mn-ea"/>
              </a:rPr>
              <a:t> </a:t>
            </a:r>
            <a:r>
              <a:rPr lang="en-US" sz="2400" dirty="0">
                <a:solidFill>
                  <a:srgbClr val="C00000"/>
                </a:solidFill>
                <a:latin typeface="Times New Roman" panose="02020603050405020304" pitchFamily="18" charset="0"/>
                <a:cs typeface="Times New Roman" panose="02020603050405020304" pitchFamily="18" charset="0"/>
                <a:sym typeface="+mn-ea"/>
              </a:rPr>
              <a:t>Introduction to Computer Software</a:t>
            </a:r>
            <a:endParaRPr lang="en-US" dirty="0">
              <a:solidFill>
                <a:srgbClr val="C00000"/>
              </a:solidFill>
              <a:latin typeface="Times New Roman" panose="02020603050405020304" pitchFamily="18" charset="0"/>
              <a:cs typeface="Times New Roman" panose="02020603050405020304" pitchFamily="18" charset="0"/>
              <a:sym typeface="+mn-ea"/>
            </a:endParaRPr>
          </a:p>
          <a:p>
            <a:endParaRPr lang="en-US"/>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32815"/>
            <a:ext cx="7620000" cy="5467985"/>
          </a:xfrm>
        </p:spPr>
        <p:txBody>
          <a:bodyPr/>
          <a:lstStyle/>
          <a:p>
            <a:endParaRPr lang="en-US"/>
          </a:p>
        </p:txBody>
      </p:sp>
      <p:sp>
        <p:nvSpPr>
          <p:cNvPr id="3" name="Text Box 2"/>
          <p:cNvSpPr txBox="1"/>
          <p:nvPr/>
        </p:nvSpPr>
        <p:spPr>
          <a:xfrm>
            <a:off x="3472815" y="410210"/>
            <a:ext cx="3048000" cy="368300"/>
          </a:xfrm>
          <a:prstGeom prst="rect">
            <a:avLst/>
          </a:prstGeom>
          <a:noFill/>
        </p:spPr>
        <p:txBody>
          <a:bodyPr wrap="square" rtlCol="0">
            <a:spAutoFit/>
          </a:bodyPr>
          <a:lstStyle/>
          <a:p>
            <a:endParaRPr lang="en-US"/>
          </a:p>
        </p:txBody>
      </p:sp>
      <p:sp>
        <p:nvSpPr>
          <p:cNvPr id="4" name="Text Box 3"/>
          <p:cNvSpPr txBox="1"/>
          <p:nvPr/>
        </p:nvSpPr>
        <p:spPr>
          <a:xfrm>
            <a:off x="493395" y="135255"/>
            <a:ext cx="5646420" cy="558165"/>
          </a:xfrm>
          <a:prstGeom prst="rect">
            <a:avLst/>
          </a:prstGeom>
          <a:noFill/>
        </p:spPr>
        <p:txBody>
          <a:bodyPr wrap="square" rtlCol="0">
            <a:noAutofit/>
          </a:bodyPr>
          <a:lstStyle/>
          <a:p>
            <a:r>
              <a:rPr lang="en-US" sz="2400" dirty="0">
                <a:solidFill>
                  <a:srgbClr val="C00000"/>
                </a:solidFill>
                <a:latin typeface="Times New Roman" panose="02020603050405020304" pitchFamily="18" charset="0"/>
                <a:cs typeface="Times New Roman" panose="02020603050405020304" pitchFamily="18" charset="0"/>
                <a:sym typeface="+mn-ea"/>
              </a:rPr>
              <a:t>Classification of Computer Software</a:t>
            </a:r>
            <a:endParaRPr lang="en-US" sz="2400" dirty="0">
              <a:solidFill>
                <a:srgbClr val="C00000"/>
              </a:solidFill>
              <a:latin typeface="Times New Roman" panose="02020603050405020304" pitchFamily="18" charset="0"/>
              <a:cs typeface="Times New Roman" panose="02020603050405020304" pitchFamily="18" charset="0"/>
            </a:endParaRPr>
          </a:p>
          <a:p>
            <a:endParaRPr lang="en-US" sz="2400" dirty="0">
              <a:solidFill>
                <a:srgbClr val="C00000"/>
              </a:solidFill>
              <a:latin typeface="Times New Roman" panose="02020603050405020304" pitchFamily="18" charset="0"/>
              <a:cs typeface="Times New Roman" panose="02020603050405020304" pitchFamily="18" charset="0"/>
            </a:endParaRPr>
          </a:p>
        </p:txBody>
      </p:sp>
      <p:pic>
        <p:nvPicPr>
          <p:cNvPr id="5" name="Picture 4" descr="121-660x495"/>
          <p:cNvPicPr>
            <a:picLocks noChangeAspect="1"/>
          </p:cNvPicPr>
          <p:nvPr/>
        </p:nvPicPr>
        <p:blipFill>
          <a:blip r:embed="rId2"/>
          <a:stretch>
            <a:fillRect/>
          </a:stretch>
        </p:blipFill>
        <p:spPr>
          <a:xfrm>
            <a:off x="493395" y="960755"/>
            <a:ext cx="7583805" cy="4860925"/>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1185" y="657225"/>
            <a:ext cx="7581265" cy="5935980"/>
          </a:xfrm>
          <a:prstGeom prst="rect">
            <a:avLst/>
          </a:prstGeom>
        </p:spPr>
        <p:txBody>
          <a:bodyPr wrap="square">
            <a:noAutofit/>
          </a:bodyPr>
          <a:lstStyle/>
          <a:p>
            <a:pPr marL="0" indent="0" algn="just"/>
            <a:r>
              <a:rPr lang="en-US" sz="2000" b="0" i="0">
                <a:solidFill>
                  <a:srgbClr val="273239"/>
                </a:solidFill>
                <a:latin typeface="Times New Roman" panose="02020603050405020304" pitchFamily="18" charset="0"/>
                <a:ea typeface="Nunito"/>
                <a:cs typeface="Times New Roman" panose="02020603050405020304" pitchFamily="18" charset="0"/>
              </a:rPr>
              <a:t>System software </a:t>
            </a:r>
            <a:r>
              <a:rPr sz="2000" b="0" i="0">
                <a:solidFill>
                  <a:srgbClr val="273239"/>
                </a:solidFill>
                <a:latin typeface="Times New Roman" panose="02020603050405020304" pitchFamily="18" charset="0"/>
                <a:ea typeface="Nunito"/>
                <a:cs typeface="Times New Roman" panose="02020603050405020304" pitchFamily="18" charset="0"/>
              </a:rPr>
              <a:t>is software that directly operates the </a:t>
            </a:r>
            <a:r>
              <a:rPr sz="2000" b="0" i="0" u="sng">
                <a:latin typeface="Times New Roman" panose="02020603050405020304" pitchFamily="18" charset="0"/>
                <a:ea typeface="Nunito"/>
                <a:cs typeface="Times New Roman" panose="02020603050405020304" pitchFamily="18" charset="0"/>
                <a:hlinkClick r:id="rId2"/>
              </a:rPr>
              <a:t>computer hardware</a:t>
            </a:r>
            <a:r>
              <a:rPr sz="2000" b="0" i="0">
                <a:solidFill>
                  <a:srgbClr val="273239"/>
                </a:solidFill>
                <a:latin typeface="Times New Roman" panose="02020603050405020304" pitchFamily="18" charset="0"/>
                <a:ea typeface="Nunito"/>
                <a:cs typeface="Times New Roman" panose="02020603050405020304" pitchFamily="18" charset="0"/>
              </a:rPr>
              <a:t> and provides the basic functionality to the users as well as to the other software to operate smoothly. Or in other words, system software basically controls a computer’s internal functioning and also controls hardware devices such as monitors, printers, and storage devices, etc. </a:t>
            </a:r>
          </a:p>
          <a:p>
            <a:pPr marL="0" indent="0" algn="just"/>
            <a:endParaRPr sz="2000" b="0" i="0">
              <a:solidFill>
                <a:srgbClr val="273239"/>
              </a:solidFill>
              <a:latin typeface="Times New Roman" panose="02020603050405020304" pitchFamily="18" charset="0"/>
              <a:ea typeface="Nunito"/>
              <a:cs typeface="Times New Roman" panose="02020603050405020304" pitchFamily="18" charset="0"/>
            </a:endParaRPr>
          </a:p>
          <a:p>
            <a:pPr marL="0" indent="0" algn="just"/>
            <a:endParaRPr sz="2000" b="0" i="0">
              <a:solidFill>
                <a:srgbClr val="273239"/>
              </a:solidFill>
              <a:latin typeface="Times New Roman" panose="02020603050405020304" pitchFamily="18" charset="0"/>
              <a:ea typeface="Nunito"/>
              <a:cs typeface="Times New Roman" panose="02020603050405020304" pitchFamily="18" charset="0"/>
            </a:endParaRPr>
          </a:p>
          <a:p>
            <a:pPr marL="0" indent="0" algn="just"/>
            <a:endParaRPr sz="2000" b="0" i="0">
              <a:solidFill>
                <a:srgbClr val="273239"/>
              </a:solidFill>
              <a:latin typeface="Times New Roman" panose="02020603050405020304" pitchFamily="18" charset="0"/>
              <a:ea typeface="Nunito"/>
              <a:cs typeface="Times New Roman" panose="02020603050405020304" pitchFamily="18" charset="0"/>
            </a:endParaRPr>
          </a:p>
          <a:p>
            <a:pPr marL="0" indent="0" algn="just"/>
            <a:endParaRPr sz="2000" b="0" i="0">
              <a:solidFill>
                <a:srgbClr val="273239"/>
              </a:solidFill>
              <a:latin typeface="Times New Roman" panose="02020603050405020304" pitchFamily="18" charset="0"/>
              <a:ea typeface="Nunito"/>
              <a:cs typeface="Times New Roman" panose="02020603050405020304" pitchFamily="18" charset="0"/>
            </a:endParaRPr>
          </a:p>
          <a:p>
            <a:pPr marL="0" indent="0" algn="just"/>
            <a:endParaRPr sz="2000" b="0" i="0">
              <a:solidFill>
                <a:srgbClr val="273239"/>
              </a:solidFill>
              <a:latin typeface="Times New Roman" panose="02020603050405020304" pitchFamily="18" charset="0"/>
              <a:ea typeface="Nunito"/>
              <a:cs typeface="Times New Roman" panose="02020603050405020304" pitchFamily="18" charset="0"/>
            </a:endParaRPr>
          </a:p>
          <a:p>
            <a:pPr marL="0" indent="0" algn="just"/>
            <a:endParaRPr sz="2000" b="0" i="0">
              <a:solidFill>
                <a:srgbClr val="273239"/>
              </a:solidFill>
              <a:latin typeface="Times New Roman" panose="02020603050405020304" pitchFamily="18" charset="0"/>
              <a:ea typeface="Nunito"/>
              <a:cs typeface="Times New Roman" panose="02020603050405020304" pitchFamily="18" charset="0"/>
            </a:endParaRPr>
          </a:p>
          <a:p>
            <a:pPr marL="0" indent="0" algn="just"/>
            <a:endParaRPr sz="2000" b="0" i="0">
              <a:solidFill>
                <a:srgbClr val="273239"/>
              </a:solidFill>
              <a:latin typeface="Times New Roman" panose="02020603050405020304" pitchFamily="18" charset="0"/>
              <a:ea typeface="Nunito"/>
              <a:cs typeface="Times New Roman" panose="02020603050405020304" pitchFamily="18" charset="0"/>
            </a:endParaRPr>
          </a:p>
          <a:p>
            <a:pPr marL="0" indent="0" algn="just"/>
            <a:r>
              <a:rPr sz="2000" b="0" i="0">
                <a:solidFill>
                  <a:srgbClr val="273239"/>
                </a:solidFill>
                <a:latin typeface="Times New Roman" panose="02020603050405020304" pitchFamily="18" charset="0"/>
                <a:ea typeface="Nunito"/>
                <a:cs typeface="Times New Roman" panose="02020603050405020304" pitchFamily="18" charset="0"/>
              </a:rPr>
              <a:t>It is like an interface between hardware and user applications, it helps them to communicate with each other because hardware understands machine language(i.e. 1 or 0) whereas user applications are work in human-readable languages like English, Hindi, etc. so system software converts the human-readable language into machine language and vice versa</a:t>
            </a:r>
            <a:r>
              <a:rPr lang="en-US" sz="2000" b="0" i="0">
                <a:solidFill>
                  <a:srgbClr val="273239"/>
                </a:solidFill>
                <a:latin typeface="Times New Roman" panose="02020603050405020304" pitchFamily="18" charset="0"/>
                <a:ea typeface="Nunito"/>
                <a:cs typeface="Times New Roman" panose="02020603050405020304" pitchFamily="18" charset="0"/>
              </a:rPr>
              <a:t>.</a:t>
            </a:r>
          </a:p>
        </p:txBody>
      </p:sp>
      <p:sp>
        <p:nvSpPr>
          <p:cNvPr id="3" name="Text Box 2"/>
          <p:cNvSpPr txBox="1"/>
          <p:nvPr/>
        </p:nvSpPr>
        <p:spPr>
          <a:xfrm>
            <a:off x="533400" y="115570"/>
            <a:ext cx="5408930" cy="448945"/>
          </a:xfrm>
          <a:prstGeom prst="rect">
            <a:avLst/>
          </a:prstGeom>
          <a:noFill/>
        </p:spPr>
        <p:txBody>
          <a:bodyPr wrap="square" rtlCol="0">
            <a:noAutofit/>
          </a:bodyPr>
          <a:lstStyle/>
          <a:p>
            <a:r>
              <a:rPr sz="2400" u="sng">
                <a:solidFill>
                  <a:srgbClr val="C00000"/>
                </a:solidFill>
                <a:latin typeface="Times New Roman" panose="02020603050405020304" pitchFamily="18" charset="0"/>
                <a:ea typeface="Nunito"/>
                <a:cs typeface="Times New Roman" panose="02020603050405020304" pitchFamily="18" charset="0"/>
                <a:sym typeface="+mn-ea"/>
                <a:hlinkClick r:id="rId3"/>
              </a:rPr>
              <a:t>System software</a:t>
            </a:r>
            <a:r>
              <a:rPr lang="en-US" u="sng">
                <a:solidFill>
                  <a:srgbClr val="C00000"/>
                </a:solidFill>
                <a:latin typeface="Times New Roman" panose="02020603050405020304" pitchFamily="18" charset="0"/>
                <a:ea typeface="Nunito"/>
                <a:cs typeface="Times New Roman" panose="02020603050405020304" pitchFamily="18" charset="0"/>
                <a:sym typeface="+mn-ea"/>
                <a:hlinkClick r:id="rId3"/>
              </a:rPr>
              <a:t>:</a:t>
            </a:r>
            <a:endParaRPr b="0" i="0" u="sng">
              <a:solidFill>
                <a:srgbClr val="C00000"/>
              </a:solidFill>
              <a:latin typeface="Times New Roman" panose="02020603050405020304" pitchFamily="18" charset="0"/>
              <a:ea typeface="Nunito"/>
              <a:cs typeface="Times New Roman" panose="02020603050405020304" pitchFamily="18" charset="0"/>
              <a:hlinkClick r:id="rId3"/>
            </a:endParaRPr>
          </a:p>
          <a:p>
            <a:endParaRPr lang="en-US"/>
          </a:p>
        </p:txBody>
      </p:sp>
      <p:pic>
        <p:nvPicPr>
          <p:cNvPr id="4" name="Picture 3" descr="images (1)"/>
          <p:cNvPicPr>
            <a:picLocks noChangeAspect="1"/>
          </p:cNvPicPr>
          <p:nvPr/>
        </p:nvPicPr>
        <p:blipFill>
          <a:blip r:embed="rId4"/>
          <a:stretch>
            <a:fillRect/>
          </a:stretch>
        </p:blipFill>
        <p:spPr>
          <a:xfrm>
            <a:off x="1828800" y="2362200"/>
            <a:ext cx="4119880" cy="21412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9920"/>
            <a:ext cx="7620000" cy="5770880"/>
          </a:xfrm>
        </p:spPr>
        <p:txBody>
          <a:bodyPr>
            <a:noAutofit/>
          </a:bodyPr>
          <a:lstStyle/>
          <a:p>
            <a:pPr marL="114300" indent="0">
              <a:buNone/>
            </a:pPr>
            <a:endParaRPr lang="en-US" sz="1500"/>
          </a:p>
          <a:p>
            <a:pPr algn="just"/>
            <a:r>
              <a:rPr lang="en-US" sz="1700">
                <a:solidFill>
                  <a:srgbClr val="C00000"/>
                </a:solidFill>
                <a:latin typeface="Times New Roman" panose="02020603050405020304" pitchFamily="18" charset="0"/>
                <a:cs typeface="Times New Roman" panose="02020603050405020304" pitchFamily="18" charset="0"/>
              </a:rPr>
              <a:t>Operating System</a:t>
            </a:r>
            <a:r>
              <a:rPr lang="en-US" sz="1700">
                <a:latin typeface="Times New Roman" panose="02020603050405020304" pitchFamily="18" charset="0"/>
                <a:cs typeface="Times New Roman" panose="02020603050405020304" pitchFamily="18" charset="0"/>
              </a:rPr>
              <a:t>: It is the main program of a computer system. When the computer system ON it is the first software that loads into the computer’s memory. Basically, it manages all the resources such as computer memory, CPU, printer, hard disk, etc., and provides an interface to the user, which helps the user to interact with the computer system. It also provides various services to other computer software. Examples of operating systems are Linux, Apple macOS, Microsoft Windows, etc.</a:t>
            </a:r>
          </a:p>
          <a:p>
            <a:pPr marL="114300" indent="0" algn="just">
              <a:buNone/>
            </a:pPr>
            <a:endParaRPr lang="en-US" sz="1700">
              <a:latin typeface="Times New Roman" panose="02020603050405020304" pitchFamily="18" charset="0"/>
              <a:cs typeface="Times New Roman" panose="02020603050405020304" pitchFamily="18" charset="0"/>
            </a:endParaRPr>
          </a:p>
          <a:p>
            <a:pPr algn="just"/>
            <a:r>
              <a:rPr lang="en-US" sz="1700">
                <a:solidFill>
                  <a:srgbClr val="C00000"/>
                </a:solidFill>
                <a:latin typeface="Times New Roman" panose="02020603050405020304" pitchFamily="18" charset="0"/>
                <a:cs typeface="Times New Roman" panose="02020603050405020304" pitchFamily="18" charset="0"/>
              </a:rPr>
              <a:t>Language Processor:</a:t>
            </a:r>
            <a:r>
              <a:rPr lang="en-US" sz="1700">
                <a:latin typeface="Times New Roman" panose="02020603050405020304" pitchFamily="18" charset="0"/>
                <a:cs typeface="Times New Roman" panose="02020603050405020304" pitchFamily="18" charset="0"/>
              </a:rPr>
              <a:t> As we know that system software converts the human-readable language into a machine language and vice versa. So, the conversion is done by the language processor. It converts programs written in high-level programming languages like Java, C, C++, Python, etc(known as source code), into sets of instructions that are easily readable by machines(known as object code or machine code).</a:t>
            </a:r>
          </a:p>
          <a:p>
            <a:pPr algn="just"/>
            <a:endParaRPr lang="en-US" sz="1700">
              <a:latin typeface="Times New Roman" panose="02020603050405020304" pitchFamily="18" charset="0"/>
              <a:cs typeface="Times New Roman" panose="02020603050405020304" pitchFamily="18" charset="0"/>
            </a:endParaRPr>
          </a:p>
          <a:p>
            <a:pPr algn="just"/>
            <a:r>
              <a:rPr lang="en-US" sz="1700">
                <a:solidFill>
                  <a:srgbClr val="C00000"/>
                </a:solidFill>
                <a:latin typeface="Times New Roman" panose="02020603050405020304" pitchFamily="18" charset="0"/>
                <a:cs typeface="Times New Roman" panose="02020603050405020304" pitchFamily="18" charset="0"/>
              </a:rPr>
              <a:t>Device Driver</a:t>
            </a:r>
            <a:r>
              <a:rPr lang="en-US" sz="1700">
                <a:latin typeface="Times New Roman" panose="02020603050405020304" pitchFamily="18" charset="0"/>
                <a:cs typeface="Times New Roman" panose="02020603050405020304" pitchFamily="18" charset="0"/>
              </a:rPr>
              <a:t>: A device driver is a program or software that controls a device and helps that device to perform its functions. Every device like a printer, mouse, modem, etc. needs a driver to connect with the computer system</a:t>
            </a:r>
            <a:r>
              <a:rPr lang="en-US" sz="1700">
                <a:solidFill>
                  <a:schemeClr val="tx2"/>
                </a:solidFill>
                <a:latin typeface="Times New Roman" panose="02020603050405020304" pitchFamily="18" charset="0"/>
                <a:cs typeface="Times New Roman" panose="02020603050405020304" pitchFamily="18" charset="0"/>
              </a:rPr>
              <a:t> eternally</a:t>
            </a:r>
            <a:r>
              <a:rPr lang="en-US" sz="1700">
                <a:latin typeface="Times New Roman" panose="02020603050405020304" pitchFamily="18" charset="0"/>
                <a:cs typeface="Times New Roman" panose="02020603050405020304" pitchFamily="18" charset="0"/>
              </a:rPr>
              <a:t>. So, when you connect a new device with your computer system, first you need to install the driver of that device so that your operating system knows how to control or manage that device.</a:t>
            </a:r>
          </a:p>
        </p:txBody>
      </p:sp>
      <p:sp>
        <p:nvSpPr>
          <p:cNvPr id="2" name="Text Box 1"/>
          <p:cNvSpPr txBox="1"/>
          <p:nvPr/>
        </p:nvSpPr>
        <p:spPr>
          <a:xfrm>
            <a:off x="686435" y="137795"/>
            <a:ext cx="6193155" cy="376555"/>
          </a:xfrm>
          <a:prstGeom prst="rect">
            <a:avLst/>
          </a:prstGeom>
          <a:noFill/>
        </p:spPr>
        <p:txBody>
          <a:bodyPr wrap="square" rtlCol="0">
            <a:noAutofit/>
          </a:bodyPr>
          <a:lstStyle/>
          <a:p>
            <a:r>
              <a:rPr lang="en-US" sz="2400">
                <a:solidFill>
                  <a:srgbClr val="C00000"/>
                </a:solidFill>
                <a:latin typeface="Times New Roman" panose="02020603050405020304" pitchFamily="18" charset="0"/>
                <a:cs typeface="Times New Roman" panose="02020603050405020304" pitchFamily="18" charset="0"/>
                <a:sym typeface="+mn-ea"/>
              </a:rPr>
              <a:t>Types of System Software</a:t>
            </a:r>
            <a:endParaRPr lang="en-US" sz="2400">
              <a:solidFill>
                <a:srgbClr val="C00000"/>
              </a:solidFill>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8458200" cy="2874010"/>
          </a:xfrm>
        </p:spPr>
        <p:txBody>
          <a:bodyPr>
            <a:normAutofit/>
          </a:bodyPr>
          <a:lstStyle/>
          <a:p>
            <a:pPr marL="114300" indent="0">
              <a:buNone/>
            </a:pPr>
            <a:r>
              <a:rPr lang="en-US" sz="2400" dirty="0">
                <a:solidFill>
                  <a:srgbClr val="C00000"/>
                </a:solidFill>
                <a:latin typeface="Times New Roman" panose="02020603050405020304" pitchFamily="18" charset="0"/>
                <a:cs typeface="Times New Roman" panose="02020603050405020304" pitchFamily="18" charset="0"/>
              </a:rPr>
              <a:t>Application Software :</a:t>
            </a:r>
          </a:p>
          <a:p>
            <a:pPr marL="114300" indent="0">
              <a:buNone/>
            </a:pPr>
            <a:r>
              <a:rPr lang="en-US" sz="2400" dirty="0"/>
              <a:t> </a:t>
            </a:r>
            <a:r>
              <a:rPr lang="en-US" sz="2000" dirty="0">
                <a:latin typeface="Times New Roman" panose="02020603050405020304" pitchFamily="18" charset="0"/>
                <a:cs typeface="Times New Roman" panose="02020603050405020304" pitchFamily="18" charset="0"/>
              </a:rPr>
              <a:t>Application software that performs special functions or provides functions that are much more than the basic operation of the computer is known as application software. Or in other words, application software is designed to perform a specific task for end-users. </a:t>
            </a:r>
          </a:p>
          <a:p>
            <a:pPr marL="114300" indent="0">
              <a:buNone/>
            </a:pPr>
            <a:r>
              <a:rPr lang="en-US" sz="2000" dirty="0">
                <a:latin typeface="Times New Roman" panose="02020603050405020304" pitchFamily="18" charset="0"/>
                <a:cs typeface="Times New Roman" panose="02020603050405020304" pitchFamily="18" charset="0"/>
              </a:rPr>
              <a:t>It is a product or a program that is designed only to fulfill end-users’ requirements. It includes word processors, spreadsheets, database management, inventory, payroll programs, etc.</a:t>
            </a:r>
          </a:p>
        </p:txBody>
      </p:sp>
      <p:pic>
        <p:nvPicPr>
          <p:cNvPr id="2" name="Picture 1" descr="images"/>
          <p:cNvPicPr>
            <a:picLocks noChangeAspect="1"/>
          </p:cNvPicPr>
          <p:nvPr/>
        </p:nvPicPr>
        <p:blipFill>
          <a:blip r:embed="rId2"/>
          <a:stretch>
            <a:fillRect/>
          </a:stretch>
        </p:blipFill>
        <p:spPr>
          <a:xfrm>
            <a:off x="1630045" y="3200400"/>
            <a:ext cx="5190490" cy="33280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595"/>
            <a:ext cx="7620000" cy="6212205"/>
          </a:xfrm>
        </p:spPr>
        <p:txBody>
          <a:bodyPr>
            <a:normAutofit/>
          </a:bodyPr>
          <a:lstStyle/>
          <a:p>
            <a:pPr marL="114300" indent="0">
              <a:buNone/>
            </a:pPr>
            <a:r>
              <a:rPr lang="en-US">
                <a:solidFill>
                  <a:srgbClr val="C00000"/>
                </a:solidFill>
              </a:rPr>
              <a:t>Types of Application Software</a:t>
            </a:r>
            <a:endParaRPr lang="en-US" sz="2220">
              <a:latin typeface="Times New Roman" panose="02020603050405020304" pitchFamily="18" charset="0"/>
              <a:cs typeface="Times New Roman" panose="02020603050405020304" pitchFamily="18" charset="0"/>
            </a:endParaRPr>
          </a:p>
          <a:p>
            <a:r>
              <a:rPr lang="en-US" sz="2220">
                <a:solidFill>
                  <a:srgbClr val="C00000"/>
                </a:solidFill>
                <a:latin typeface="Times New Roman" panose="02020603050405020304" pitchFamily="18" charset="0"/>
                <a:cs typeface="Times New Roman" panose="02020603050405020304" pitchFamily="18" charset="0"/>
              </a:rPr>
              <a:t>General Purpose Software:</a:t>
            </a:r>
            <a:r>
              <a:rPr lang="en-US" sz="2220">
                <a:latin typeface="Times New Roman" panose="02020603050405020304" pitchFamily="18" charset="0"/>
                <a:cs typeface="Times New Roman" panose="02020603050405020304" pitchFamily="18" charset="0"/>
              </a:rPr>
              <a:t> This type of application software is used for a variety of tasks and it is not limited to performing a specific task only. For example, MS-Word, MS-Excel, PowerPoint, etc.</a:t>
            </a:r>
          </a:p>
          <a:p>
            <a:r>
              <a:rPr lang="en-US" sz="2220">
                <a:solidFill>
                  <a:srgbClr val="C00000"/>
                </a:solidFill>
                <a:latin typeface="Times New Roman" panose="02020603050405020304" pitchFamily="18" charset="0"/>
                <a:cs typeface="Times New Roman" panose="02020603050405020304" pitchFamily="18" charset="0"/>
              </a:rPr>
              <a:t>Customized Software:</a:t>
            </a:r>
            <a:r>
              <a:rPr lang="en-US" sz="2220">
                <a:latin typeface="Times New Roman" panose="02020603050405020304" pitchFamily="18" charset="0"/>
                <a:cs typeface="Times New Roman" panose="02020603050405020304" pitchFamily="18" charset="0"/>
              </a:rPr>
              <a:t> This type of application software is used or designed to perform specific tasks or functions or designed for specific organizations. For example, railway reservation system, airline reservation system, invoice management system, etc.</a:t>
            </a:r>
          </a:p>
          <a:p>
            <a:r>
              <a:rPr lang="en-US" sz="2220">
                <a:solidFill>
                  <a:srgbClr val="C00000"/>
                </a:solidFill>
                <a:latin typeface="Times New Roman" panose="02020603050405020304" pitchFamily="18" charset="0"/>
                <a:cs typeface="Times New Roman" panose="02020603050405020304" pitchFamily="18" charset="0"/>
              </a:rPr>
              <a:t>Utility Software:</a:t>
            </a:r>
            <a:r>
              <a:rPr lang="en-US" sz="2220">
                <a:latin typeface="Times New Roman" panose="02020603050405020304" pitchFamily="18" charset="0"/>
                <a:cs typeface="Times New Roman" panose="02020603050405020304" pitchFamily="18" charset="0"/>
              </a:rPr>
              <a:t> This type of application software is used to support the computer infrastructure. It is designed to analyze, configure, optimize and maintains the system, and take care of its requirements as well. For example, antivirus, disk fragmenter, memory tester, disk repair, disk cleaners, registry cleaners, disk space analyzer, etc.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87730"/>
            <a:ext cx="8458200" cy="4979670"/>
          </a:xfrm>
        </p:spPr>
        <p:txBody>
          <a:bodyPr>
            <a:normAutofit/>
          </a:bodyPr>
          <a:lstStyle/>
          <a:p>
            <a:pPr algn="just"/>
            <a:r>
              <a:rPr lang="en-US" sz="2400" dirty="0">
                <a:latin typeface="Times New Roman" panose="02020603050405020304" pitchFamily="18" charset="0"/>
                <a:cs typeface="Times New Roman" panose="02020603050405020304" pitchFamily="18" charset="0"/>
              </a:rPr>
              <a:t>Graphics software is a type of computer program that is used to create and edit images. </a:t>
            </a:r>
          </a:p>
          <a:p>
            <a:pPr algn="just"/>
            <a:r>
              <a:rPr lang="en-US" sz="2400" dirty="0">
                <a:latin typeface="Times New Roman" panose="02020603050405020304" pitchFamily="18" charset="0"/>
                <a:cs typeface="Times New Roman" panose="02020603050405020304" pitchFamily="18" charset="0"/>
              </a:rPr>
              <a:t>There is a wide range of graphics software available on the market, ranging from simple programs that allow users to create and edit basic images, to complex tools that can be used to create detailed 3D models and animations.</a:t>
            </a:r>
          </a:p>
          <a:p>
            <a:pPr algn="just"/>
            <a:r>
              <a:rPr lang="en-US" sz="2400" dirty="0">
                <a:latin typeface="Times New Roman" panose="02020603050405020304" pitchFamily="18" charset="0"/>
                <a:cs typeface="Times New Roman" panose="02020603050405020304" pitchFamily="18" charset="0"/>
              </a:rPr>
              <a:t> Some of the most popular graphics software programs include Adobe Photoshop, Corel Painter, and Autodesk Maya.</a:t>
            </a:r>
          </a:p>
          <a:p>
            <a:pPr marL="114300" indent="0" algn="just">
              <a:buNone/>
            </a:pPr>
            <a:endParaRPr lang="en-US" sz="2400" dirty="0">
              <a:latin typeface="Times New Roman" panose="02020603050405020304" pitchFamily="18" charset="0"/>
              <a:cs typeface="Times New Roman" panose="02020603050405020304" pitchFamily="18" charset="0"/>
            </a:endParaRPr>
          </a:p>
          <a:p>
            <a:pPr marL="114300" indent="0" algn="just">
              <a:buNone/>
            </a:pPr>
            <a:endParaRPr lang="en-US" sz="2400"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368935" y="213995"/>
            <a:ext cx="5587365" cy="562610"/>
          </a:xfrm>
          <a:prstGeom prst="rect">
            <a:avLst/>
          </a:prstGeom>
          <a:noFill/>
        </p:spPr>
        <p:txBody>
          <a:bodyPr wrap="square" rtlCol="0">
            <a:noAutofit/>
          </a:bodyPr>
          <a:lstStyle/>
          <a:p>
            <a:r>
              <a:rPr lang="en-US" sz="2400" dirty="0">
                <a:solidFill>
                  <a:srgbClr val="C00000"/>
                </a:solidFill>
                <a:latin typeface="Times New Roman" panose="02020603050405020304" pitchFamily="18" charset="0"/>
                <a:cs typeface="Times New Roman" panose="02020603050405020304" pitchFamily="18" charset="0"/>
                <a:sym typeface="+mn-ea"/>
              </a:rPr>
              <a:t>Graphics software</a:t>
            </a:r>
            <a:r>
              <a:rPr lang="en-US" dirty="0">
                <a:latin typeface="Times New Roman" panose="02020603050405020304" pitchFamily="18" charset="0"/>
                <a:cs typeface="Times New Roman" panose="02020603050405020304" pitchFamily="18" charset="0"/>
                <a:sym typeface="+mn-ea"/>
              </a:rPr>
              <a:t> </a:t>
            </a:r>
            <a:endParaRPr lang="en-US" dirty="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505460" y="949325"/>
            <a:ext cx="7815580" cy="4761230"/>
          </a:xfrm>
          <a:prstGeom prst="rect">
            <a:avLst/>
          </a:prstGeom>
          <a:noFill/>
        </p:spPr>
        <p:txBody>
          <a:bodyPr wrap="square" rtlCol="0" anchor="t">
            <a:noAutofit/>
          </a:bodyPr>
          <a:lstStyle/>
          <a:p>
            <a:pPr marL="4572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mn-ea"/>
              </a:rPr>
              <a:t>A graphics software program is a computer application used to create digital images.</a:t>
            </a:r>
            <a:endParaRPr lang="en-US" sz="2400" dirty="0">
              <a:latin typeface="Times New Roman" panose="02020603050405020304" pitchFamily="18" charset="0"/>
              <a:cs typeface="Times New Roman" panose="02020603050405020304" pitchFamily="18" charset="0"/>
            </a:endParaRPr>
          </a:p>
          <a:p>
            <a:pPr marL="4572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mn-ea"/>
              </a:rPr>
              <a:t>Graphics software programs can be used to create both vector and raster images.</a:t>
            </a:r>
            <a:endParaRPr lang="en-US" sz="2400" dirty="0">
              <a:latin typeface="Times New Roman" panose="02020603050405020304" pitchFamily="18" charset="0"/>
              <a:cs typeface="Times New Roman" panose="02020603050405020304" pitchFamily="18" charset="0"/>
            </a:endParaRPr>
          </a:p>
          <a:p>
            <a:pPr marL="4572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mn-ea"/>
              </a:rPr>
              <a:t>Common features of graphics software programs include the ability to create, edit, and save images in a variety of formats.</a:t>
            </a:r>
            <a:endParaRPr lang="en-US" sz="2400" dirty="0">
              <a:latin typeface="Times New Roman" panose="02020603050405020304" pitchFamily="18" charset="0"/>
              <a:cs typeface="Times New Roman" panose="02020603050405020304" pitchFamily="18" charset="0"/>
            </a:endParaRPr>
          </a:p>
          <a:p>
            <a:pPr marL="4572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mn-ea"/>
              </a:rPr>
              <a:t>Some graphics software programs also offer features such as the ability to create animations or 3D models.</a:t>
            </a:r>
            <a:endParaRPr lang="en-US" sz="2400" dirty="0">
              <a:latin typeface="Times New Roman" panose="02020603050405020304" pitchFamily="18" charset="0"/>
              <a:cs typeface="Times New Roman" panose="02020603050405020304" pitchFamily="18" charset="0"/>
            </a:endParaRPr>
          </a:p>
          <a:p>
            <a:pPr marL="4572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mn-ea"/>
              </a:rPr>
              <a:t>Popular examples of graphics software programs include Adobe Photoshop, GIMP, and Inkscape.</a:t>
            </a:r>
            <a:endParaRPr lang="en-US" sz="2400" dirty="0">
              <a:latin typeface="Times New Roman" panose="02020603050405020304" pitchFamily="18" charset="0"/>
              <a:cs typeface="Times New Roman" panose="02020603050405020304" pitchFamily="18" charset="0"/>
            </a:endParaRPr>
          </a:p>
          <a:p>
            <a:pPr marL="114300" indent="0" algn="just">
              <a:buNone/>
            </a:pPr>
            <a:endParaRPr lang="en-US" sz="2400"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624840" y="226695"/>
            <a:ext cx="4305935" cy="579755"/>
          </a:xfrm>
          <a:prstGeom prst="rect">
            <a:avLst/>
          </a:prstGeom>
          <a:noFill/>
        </p:spPr>
        <p:txBody>
          <a:bodyPr wrap="square" rtlCol="0">
            <a:noAutofit/>
          </a:bodyPr>
          <a:lstStyle/>
          <a:p>
            <a:r>
              <a:rPr lang="en-US" sz="2400" dirty="0">
                <a:solidFill>
                  <a:srgbClr val="C00000"/>
                </a:solidFill>
                <a:latin typeface="Times New Roman" panose="02020603050405020304" pitchFamily="18" charset="0"/>
                <a:cs typeface="Times New Roman" panose="02020603050405020304" pitchFamily="18" charset="0"/>
                <a:sym typeface="+mn-ea"/>
              </a:rPr>
              <a:t>Characteristics:</a:t>
            </a:r>
            <a:endParaRPr lang="en-US" sz="2400" dirty="0">
              <a:solidFill>
                <a:srgbClr val="C00000"/>
              </a:solidFill>
              <a:latin typeface="Times New Roman" panose="02020603050405020304" pitchFamily="18" charset="0"/>
              <a:cs typeface="Times New Roman" panose="02020603050405020304" pitchFamily="18" charset="0"/>
            </a:endParaRPr>
          </a:p>
          <a:p>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99390"/>
            <a:ext cx="8305800" cy="6236335"/>
          </a:xfrm>
        </p:spPr>
        <p:txBody>
          <a:bodyPr>
            <a:normAutofit fontScale="97500" lnSpcReduction="10000"/>
          </a:bodyPr>
          <a:lstStyle/>
          <a:p>
            <a:pPr marL="114300" indent="0" algn="just">
              <a:buNone/>
            </a:pPr>
            <a:r>
              <a:rPr lang="en-US" sz="2500" dirty="0">
                <a:solidFill>
                  <a:srgbClr val="C00000"/>
                </a:solidFill>
                <a:latin typeface="Times New Roman" panose="02020603050405020304" pitchFamily="18" charset="0"/>
                <a:cs typeface="Times New Roman" panose="02020603050405020304" pitchFamily="18" charset="0"/>
              </a:rPr>
              <a:t>Examples:</a:t>
            </a:r>
          </a:p>
          <a:p>
            <a:pPr marL="114300" indent="0" algn="just">
              <a:buNone/>
            </a:pPr>
            <a:r>
              <a:rPr lang="en-US" sz="2500" dirty="0">
                <a:latin typeface="Times New Roman" panose="02020603050405020304" pitchFamily="18" charset="0"/>
                <a:cs typeface="Times New Roman" panose="02020603050405020304" pitchFamily="18" charset="0"/>
              </a:rPr>
              <a:t>Some popular graphics software programs are Adobe Photoshop, Adobe Illustrator, and CorelDRAW. These programs can be used to create and edit digital images, illustrations, and logos. They offer a variety of features and tools that allow users to manipulate photos and graphics to create custom designs.</a:t>
            </a:r>
          </a:p>
          <a:p>
            <a:pPr marL="114300" indent="0" algn="just">
              <a:buNone/>
            </a:pPr>
            <a:r>
              <a:rPr lang="en-US" sz="2500" dirty="0">
                <a:solidFill>
                  <a:srgbClr val="C00000"/>
                </a:solidFill>
                <a:latin typeface="Times New Roman" panose="02020603050405020304" pitchFamily="18" charset="0"/>
                <a:cs typeface="Times New Roman" panose="02020603050405020304" pitchFamily="18" charset="0"/>
              </a:rPr>
              <a:t>Adobe Photoshop</a:t>
            </a:r>
            <a:r>
              <a:rPr lang="en-US" sz="2500" dirty="0">
                <a:latin typeface="Times New Roman" panose="02020603050405020304" pitchFamily="18" charset="0"/>
                <a:cs typeface="Times New Roman" panose="02020603050405020304" pitchFamily="18" charset="0"/>
              </a:rPr>
              <a:t> is a popular graphics software used by photographers and graphic designers. </a:t>
            </a:r>
          </a:p>
          <a:p>
            <a:pPr marL="114300" indent="0" algn="just">
              <a:buNone/>
            </a:pPr>
            <a:r>
              <a:rPr lang="en-US" sz="2500" dirty="0">
                <a:latin typeface="Times New Roman" panose="02020603050405020304" pitchFamily="18" charset="0"/>
                <a:cs typeface="Times New Roman" panose="02020603050405020304" pitchFamily="18" charset="0"/>
              </a:rPr>
              <a:t>Adobe Illustrator is another popular graphics software used by graphic designers, especially for creating vector illustrations.</a:t>
            </a:r>
          </a:p>
          <a:p>
            <a:pPr marL="114300" indent="0" algn="just">
              <a:buNone/>
            </a:pPr>
            <a:r>
              <a:rPr lang="en-US" sz="2500" dirty="0">
                <a:solidFill>
                  <a:srgbClr val="C00000"/>
                </a:solidFill>
                <a:latin typeface="Times New Roman" panose="02020603050405020304" pitchFamily="18" charset="0"/>
                <a:cs typeface="Times New Roman" panose="02020603050405020304" pitchFamily="18" charset="0"/>
              </a:rPr>
              <a:t>CorelDRAW</a:t>
            </a:r>
            <a:r>
              <a:rPr lang="en-US" sz="2500" dirty="0">
                <a:latin typeface="Times New Roman" panose="02020603050405020304" pitchFamily="18" charset="0"/>
                <a:cs typeface="Times New Roman" panose="02020603050405020304" pitchFamily="18" charset="0"/>
              </a:rPr>
              <a:t> is a graphics software used by both professionals and hobbyists.</a:t>
            </a:r>
          </a:p>
          <a:p>
            <a:pPr marL="114300" indent="0" algn="just">
              <a:buNone/>
            </a:pPr>
            <a:r>
              <a:rPr lang="en-US" sz="2500" dirty="0">
                <a:solidFill>
                  <a:srgbClr val="C00000"/>
                </a:solidFill>
                <a:latin typeface="Times New Roman" panose="02020603050405020304" pitchFamily="18" charset="0"/>
                <a:cs typeface="Times New Roman" panose="02020603050405020304" pitchFamily="18" charset="0"/>
              </a:rPr>
              <a:t>GIMP</a:t>
            </a:r>
            <a:r>
              <a:rPr lang="en-US" sz="2500" dirty="0">
                <a:latin typeface="Times New Roman" panose="02020603050405020304" pitchFamily="18" charset="0"/>
                <a:cs typeface="Times New Roman" panose="02020603050405020304" pitchFamily="18" charset="0"/>
              </a:rPr>
              <a:t> is a free and open source graphics software with capabilities similar to Photoshop. </a:t>
            </a:r>
          </a:p>
          <a:p>
            <a:pPr marL="114300" indent="0" algn="just">
              <a:buNone/>
            </a:pPr>
            <a:r>
              <a:rPr lang="en-US" sz="2500" dirty="0">
                <a:solidFill>
                  <a:srgbClr val="C00000"/>
                </a:solidFill>
                <a:latin typeface="Times New Roman" panose="02020603050405020304" pitchFamily="18" charset="0"/>
                <a:cs typeface="Times New Roman" panose="02020603050405020304" pitchFamily="18" charset="0"/>
              </a:rPr>
              <a:t>Inkscape</a:t>
            </a:r>
            <a:r>
              <a:rPr lang="en-US" sz="2500" dirty="0">
                <a:latin typeface="Times New Roman" panose="02020603050405020304" pitchFamily="18" charset="0"/>
                <a:cs typeface="Times New Roman" panose="02020603050405020304" pitchFamily="18" charset="0"/>
              </a:rPr>
              <a:t> is a free and open source vector graphics software used by graphic designers and illustrators.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1595"/>
            <a:ext cx="7620000" cy="569595"/>
          </a:xfrm>
        </p:spPr>
        <p:txBody>
          <a:bodyPr/>
          <a:lstStyle/>
          <a:p>
            <a:r>
              <a:rPr lang="en-US" sz="2400" dirty="0">
                <a:solidFill>
                  <a:srgbClr val="C00000"/>
                </a:solidFill>
                <a:latin typeface="Times New Roman" panose="02020603050405020304" pitchFamily="18" charset="0"/>
                <a:cs typeface="Times New Roman" panose="02020603050405020304" pitchFamily="18" charset="0"/>
                <a:sym typeface="+mn-ea"/>
              </a:rPr>
              <a:t> Multimedia Software</a:t>
            </a:r>
          </a:p>
        </p:txBody>
      </p:sp>
      <p:sp>
        <p:nvSpPr>
          <p:cNvPr id="3" name="Content Placeholder 2"/>
          <p:cNvSpPr>
            <a:spLocks noGrp="1"/>
          </p:cNvSpPr>
          <p:nvPr>
            <p:ph idx="1"/>
          </p:nvPr>
        </p:nvSpPr>
        <p:spPr>
          <a:xfrm>
            <a:off x="457200" y="777240"/>
            <a:ext cx="7620000" cy="5623560"/>
          </a:xfrm>
        </p:spPr>
        <p:txBody>
          <a:bodyPr>
            <a:normAutofit fontScale="77500" lnSpcReduction="10000"/>
          </a:bodyPr>
          <a:lstStyle/>
          <a:p>
            <a:pPr marL="114300" indent="0">
              <a:buNone/>
            </a:pPr>
            <a:r>
              <a:rPr lang="en-US" sz="2855">
                <a:latin typeface="Times New Roman" panose="02020603050405020304" pitchFamily="18" charset="0"/>
                <a:cs typeface="Times New Roman" panose="02020603050405020304" pitchFamily="18" charset="0"/>
              </a:rPr>
              <a:t>Multimedia software is defined as the combination of text, audio, images, animation, or video to produce interactive content.</a:t>
            </a:r>
          </a:p>
          <a:p>
            <a:r>
              <a:rPr lang="en-US" sz="2400">
                <a:solidFill>
                  <a:srgbClr val="C00000"/>
                </a:solidFill>
                <a:latin typeface="Times New Roman" panose="02020603050405020304" pitchFamily="18" charset="0"/>
                <a:cs typeface="Times New Roman" panose="02020603050405020304" pitchFamily="18" charset="0"/>
              </a:rPr>
              <a:t>Media Players</a:t>
            </a:r>
            <a:r>
              <a:rPr lang="en-US" sz="2400">
                <a:latin typeface="Times New Roman" panose="02020603050405020304" pitchFamily="18" charset="0"/>
                <a:cs typeface="Times New Roman" panose="02020603050405020304" pitchFamily="18" charset="0"/>
              </a:rPr>
              <a:t>:Software applications like VLC, Windows Media Player, or QuickTime for playing audio and video files.</a:t>
            </a:r>
          </a:p>
          <a:p>
            <a:r>
              <a:rPr lang="en-US" sz="2400">
                <a:solidFill>
                  <a:srgbClr val="C00000"/>
                </a:solidFill>
                <a:latin typeface="Times New Roman" panose="02020603050405020304" pitchFamily="18" charset="0"/>
                <a:cs typeface="Times New Roman" panose="02020603050405020304" pitchFamily="18" charset="0"/>
              </a:rPr>
              <a:t>Graphics Software</a:t>
            </a:r>
            <a:r>
              <a:rPr lang="en-US" sz="2400">
                <a:latin typeface="Times New Roman" panose="02020603050405020304" pitchFamily="18" charset="0"/>
                <a:cs typeface="Times New Roman" panose="02020603050405020304" pitchFamily="18" charset="0"/>
              </a:rPr>
              <a:t>:Tools like Adobe Photoshop, GIMP, or CorelDRAW for creating and editing images.</a:t>
            </a:r>
          </a:p>
          <a:p>
            <a:r>
              <a:rPr lang="en-US" sz="2400">
                <a:solidFill>
                  <a:srgbClr val="C00000"/>
                </a:solidFill>
                <a:latin typeface="Times New Roman" panose="02020603050405020304" pitchFamily="18" charset="0"/>
                <a:cs typeface="Times New Roman" panose="02020603050405020304" pitchFamily="18" charset="0"/>
              </a:rPr>
              <a:t>Video Editing Software</a:t>
            </a:r>
            <a:r>
              <a:rPr lang="en-US" sz="2400">
                <a:latin typeface="Times New Roman" panose="02020603050405020304" pitchFamily="18" charset="0"/>
                <a:cs typeface="Times New Roman" panose="02020603050405020304" pitchFamily="18" charset="0"/>
              </a:rPr>
              <a:t>:Applications such as Adobe Premiere, Final Cut Pro, or DaVinci Resolve for editing and producing videos.</a:t>
            </a:r>
          </a:p>
          <a:p>
            <a:r>
              <a:rPr lang="en-US" sz="2400">
                <a:solidFill>
                  <a:srgbClr val="C00000"/>
                </a:solidFill>
                <a:latin typeface="Times New Roman" panose="02020603050405020304" pitchFamily="18" charset="0"/>
                <a:cs typeface="Times New Roman" panose="02020603050405020304" pitchFamily="18" charset="0"/>
              </a:rPr>
              <a:t>Audio Editing Software</a:t>
            </a:r>
            <a:r>
              <a:rPr lang="en-US" sz="2400">
                <a:latin typeface="Times New Roman" panose="02020603050405020304" pitchFamily="18" charset="0"/>
                <a:cs typeface="Times New Roman" panose="02020603050405020304" pitchFamily="18" charset="0"/>
              </a:rPr>
              <a:t>:Tools like Audacity, Adobe Audition, or GarageBand for editing and producing audio content.</a:t>
            </a:r>
          </a:p>
          <a:p>
            <a:r>
              <a:rPr lang="en-US" sz="2400">
                <a:solidFill>
                  <a:srgbClr val="C00000"/>
                </a:solidFill>
                <a:latin typeface="Times New Roman" panose="02020603050405020304" pitchFamily="18" charset="0"/>
                <a:cs typeface="Times New Roman" panose="02020603050405020304" pitchFamily="18" charset="0"/>
              </a:rPr>
              <a:t>Web Browsers</a:t>
            </a:r>
            <a:r>
              <a:rPr lang="en-US" sz="2400">
                <a:latin typeface="Times New Roman" panose="02020603050405020304" pitchFamily="18" charset="0"/>
                <a:cs typeface="Times New Roman" panose="02020603050405020304" pitchFamily="18" charset="0"/>
              </a:rPr>
              <a:t>:Browsers like Google Chrome, Mozilla Firefox, or Safari that support multimedia content on the web.</a:t>
            </a:r>
          </a:p>
          <a:p>
            <a:r>
              <a:rPr lang="en-US" sz="2400">
                <a:solidFill>
                  <a:srgbClr val="C00000"/>
                </a:solidFill>
                <a:latin typeface="Times New Roman" panose="02020603050405020304" pitchFamily="18" charset="0"/>
                <a:cs typeface="Times New Roman" panose="02020603050405020304" pitchFamily="18" charset="0"/>
              </a:rPr>
              <a:t>Multimedia Authoring Tools</a:t>
            </a:r>
            <a:r>
              <a:rPr lang="en-US" sz="2400">
                <a:latin typeface="Times New Roman" panose="02020603050405020304" pitchFamily="18" charset="0"/>
                <a:cs typeface="Times New Roman" panose="02020603050405020304" pitchFamily="18" charset="0"/>
              </a:rPr>
              <a:t>:Software like Adobe Animate, Unity, or Blender for creating interactive multimedia content.</a:t>
            </a:r>
          </a:p>
          <a:p>
            <a:r>
              <a:rPr lang="en-US" sz="2400">
                <a:solidFill>
                  <a:srgbClr val="C00000"/>
                </a:solidFill>
                <a:latin typeface="Times New Roman" panose="02020603050405020304" pitchFamily="18" charset="0"/>
                <a:cs typeface="Times New Roman" panose="02020603050405020304" pitchFamily="18" charset="0"/>
              </a:rPr>
              <a:t>3D Modeling and Animation Software</a:t>
            </a:r>
            <a:r>
              <a:rPr lang="en-US" sz="2400">
                <a:latin typeface="Times New Roman" panose="02020603050405020304" pitchFamily="18" charset="0"/>
                <a:cs typeface="Times New Roman" panose="02020603050405020304" pitchFamily="18" charset="0"/>
              </a:rPr>
              <a:t>:Applications such as Autodesk Maya, Blender, or Cinema 4D for creating 3D multimedia content.</a:t>
            </a:r>
          </a:p>
          <a:p>
            <a:r>
              <a:rPr lang="en-US" sz="2400">
                <a:latin typeface="Times New Roman" panose="02020603050405020304" pitchFamily="18" charset="0"/>
                <a:cs typeface="Times New Roman" panose="02020603050405020304" pitchFamily="18" charset="0"/>
              </a:rPr>
              <a:t>Presentation Software:Tools like Microsoft PowerPoint or Prezi for creating multimedia-rich presentations.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400" y="274955"/>
            <a:ext cx="7797800" cy="713105"/>
          </a:xfrm>
        </p:spPr>
        <p:txBody>
          <a:bodyPr/>
          <a:lstStyle/>
          <a:p>
            <a:r>
              <a:rPr lang="en-US" sz="2800">
                <a:solidFill>
                  <a:srgbClr val="C00000"/>
                </a:solidFill>
                <a:latin typeface="Times New Roman" panose="02020603050405020304" pitchFamily="18" charset="0"/>
                <a:cs typeface="Times New Roman" panose="02020603050405020304" pitchFamily="18" charset="0"/>
              </a:rPr>
              <a:t>Database Management Software</a:t>
            </a:r>
          </a:p>
        </p:txBody>
      </p:sp>
      <p:sp>
        <p:nvSpPr>
          <p:cNvPr id="3" name="Content Placeholder 2"/>
          <p:cNvSpPr>
            <a:spLocks noGrp="1"/>
          </p:cNvSpPr>
          <p:nvPr>
            <p:ph idx="1"/>
          </p:nvPr>
        </p:nvSpPr>
        <p:spPr>
          <a:xfrm>
            <a:off x="457200" y="987425"/>
            <a:ext cx="7620000" cy="5413375"/>
          </a:xfrm>
        </p:spPr>
        <p:txBody>
          <a:bodyPr>
            <a:normAutofit/>
          </a:bodyPr>
          <a:lstStyle/>
          <a:p>
            <a:pPr algn="just"/>
            <a:r>
              <a:rPr lang="en-US" sz="2400">
                <a:latin typeface="Times New Roman" panose="02020603050405020304" pitchFamily="18" charset="0"/>
                <a:cs typeface="Times New Roman" panose="02020603050405020304" pitchFamily="18" charset="0"/>
              </a:rPr>
              <a:t>Database management software or DBMS is a collection of programs which helps users to store, edit, and extract data from a database.</a:t>
            </a:r>
          </a:p>
          <a:p>
            <a:pPr algn="just"/>
            <a:r>
              <a:rPr lang="en-US" sz="2400">
                <a:latin typeface="Times New Roman" panose="02020603050405020304" pitchFamily="18" charset="0"/>
                <a:cs typeface="Times New Roman" panose="02020603050405020304" pitchFamily="18" charset="0"/>
              </a:rPr>
              <a:t>A database management system (DBMS) is a software system for creating and managing databases. A DBMS enables end users to create, protect, read, update and delete data in a database.</a:t>
            </a:r>
          </a:p>
          <a:p>
            <a:pPr algn="just"/>
            <a:r>
              <a:rPr lang="en-US" sz="2400">
                <a:latin typeface="Times New Roman" panose="02020603050405020304" pitchFamily="18" charset="0"/>
                <a:cs typeface="Times New Roman" panose="02020603050405020304" pitchFamily="18" charset="0"/>
              </a:rPr>
              <a:t>Database administrators use Database Management Software, or DBMS, for storing, changing, and managing data in a database environment. It enables users to design personalized data storage to meet their analytics and reporting needs.</a:t>
            </a:r>
          </a:p>
          <a:p>
            <a:pPr marL="114300" indent="0" algn="just">
              <a:buNone/>
            </a:pP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51180"/>
            <a:ext cx="7620000" cy="5849620"/>
          </a:xfrm>
        </p:spPr>
        <p:txBody>
          <a:bodyPr/>
          <a:lstStyle/>
          <a:p>
            <a:pPr marL="114300" indent="0">
              <a:buNone/>
            </a:pPr>
            <a:r>
              <a:rPr lang="en-US" sz="2400">
                <a:latin typeface="Times New Roman" panose="02020603050405020304" pitchFamily="18" charset="0"/>
                <a:cs typeface="Times New Roman" panose="02020603050405020304" pitchFamily="18" charset="0"/>
              </a:rPr>
              <a:t> </a:t>
            </a:r>
          </a:p>
          <a:p>
            <a:pPr algn="just"/>
            <a:r>
              <a:rPr lang="en-US" sz="2400">
                <a:latin typeface="Times New Roman" panose="02020603050405020304" pitchFamily="18" charset="0"/>
                <a:cs typeface="Times New Roman" panose="02020603050405020304" pitchFamily="18" charset="0"/>
                <a:sym typeface="+mn-ea"/>
              </a:rPr>
              <a:t>Database software design also supports creating, implementing, and maintaining an organization-wide data management system.</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sym typeface="+mn-ea"/>
              </a:rPr>
              <a:t>Database management software (DBMS) is essential for organizing, storing, and retrieving data. </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Examples of Database Management Softwares are MySQL, DB2, Microsoft Access, Microsoft SQL Server,  Oracle Database.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0015"/>
            <a:ext cx="7620000" cy="469900"/>
          </a:xfrm>
        </p:spPr>
        <p:txBody>
          <a:bodyPr/>
          <a:lstStyle/>
          <a:p>
            <a:r>
              <a:rPr lang="en-US" sz="3200">
                <a:solidFill>
                  <a:srgbClr val="C00000"/>
                </a:solidFill>
                <a:latin typeface="Times New Roman" panose="02020603050405020304" pitchFamily="18" charset="0"/>
                <a:cs typeface="Times New Roman" panose="02020603050405020304" pitchFamily="18" charset="0"/>
              </a:rPr>
              <a:t>Firmware</a:t>
            </a:r>
          </a:p>
        </p:txBody>
      </p:sp>
      <p:sp>
        <p:nvSpPr>
          <p:cNvPr id="3" name="Content Placeholder 2"/>
          <p:cNvSpPr>
            <a:spLocks noGrp="1"/>
          </p:cNvSpPr>
          <p:nvPr>
            <p:ph idx="1"/>
          </p:nvPr>
        </p:nvSpPr>
        <p:spPr>
          <a:xfrm>
            <a:off x="457200" y="715010"/>
            <a:ext cx="7620000" cy="5685790"/>
          </a:xfrm>
        </p:spPr>
        <p:txBody>
          <a:bodyPr>
            <a:normAutofit fontScale="92500"/>
          </a:bodyPr>
          <a:lstStyle/>
          <a:p>
            <a:pPr algn="just"/>
            <a:r>
              <a:rPr lang="en-US" sz="2000">
                <a:latin typeface="Times New Roman" panose="02020603050405020304" pitchFamily="18" charset="0"/>
                <a:cs typeface="Times New Roman" panose="02020603050405020304" pitchFamily="18" charset="0"/>
                <a:sym typeface="+mn-ea"/>
              </a:rPr>
              <a:t>Firmware is a type of software that is embedded into hardware devices to control their functionality. Unlike traditional software, firmware is not designed to be modified or updated frequently, and it is typically stored in non-volatile memory. It serves as a bridge between the hardware and software layers of a system, allowing the hardware to interact with the operating system and applications.</a:t>
            </a:r>
            <a:endParaRPr lang="en-US" sz="2000">
              <a:latin typeface="Times New Roman" panose="02020603050405020304" pitchFamily="18" charset="0"/>
              <a:cs typeface="Times New Roman" panose="02020603050405020304" pitchFamily="18" charset="0"/>
            </a:endParaRPr>
          </a:p>
          <a:p>
            <a:pPr marL="114300" indent="0">
              <a:buNone/>
            </a:pP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Firmware is a software program permenantly etached into hardware devices such as a keyboard, Hard disk drive, BIOS or Video cards.It is programmed to give permanent instructions to communicate with other devices and perform functioning like basic input/output task.Firmware is typically stored in the ROM of a hardware device.</a:t>
            </a:r>
          </a:p>
          <a:p>
            <a:pPr marL="114300" indent="0" algn="just">
              <a:buNone/>
            </a:pP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Firmware is software that provides basic machine instructions that allow the hardware to function and communicate with other software running on a device.</a:t>
            </a:r>
          </a:p>
          <a:p>
            <a:pPr marL="114300" indent="0" algn="just">
              <a:buNone/>
            </a:pPr>
            <a:endParaRPr lang="en-US" sz="2000">
              <a:latin typeface="Times New Roman" panose="02020603050405020304" pitchFamily="18" charset="0"/>
              <a:cs typeface="Times New Roman" panose="02020603050405020304" pitchFamily="18" charset="0"/>
            </a:endParaRPr>
          </a:p>
          <a:p>
            <a:pPr marL="114300" indent="0">
              <a:buNone/>
            </a:pPr>
            <a:r>
              <a:rPr lang="en-US" sz="2000">
                <a:solidFill>
                  <a:srgbClr val="C00000"/>
                </a:solidFill>
                <a:latin typeface="Times New Roman" panose="02020603050405020304" pitchFamily="18" charset="0"/>
                <a:cs typeface="Times New Roman" panose="02020603050405020304" pitchFamily="18" charset="0"/>
              </a:rPr>
              <a:t>Types of firmwares:</a:t>
            </a:r>
          </a:p>
          <a:p>
            <a:pPr marL="114300" indent="0">
              <a:buNone/>
            </a:pPr>
            <a:endParaRPr lang="en-US" sz="2000">
              <a:latin typeface="Times New Roman" panose="02020603050405020304" pitchFamily="18" charset="0"/>
              <a:cs typeface="Times New Roman" panose="02020603050405020304" pitchFamily="18" charset="0"/>
            </a:endParaRPr>
          </a:p>
          <a:p>
            <a:pPr marL="114300" indent="0">
              <a:buNone/>
            </a:pPr>
            <a:r>
              <a:rPr lang="en-US" sz="2000">
                <a:latin typeface="Times New Roman" panose="02020603050405020304" pitchFamily="18" charset="0"/>
                <a:cs typeface="Times New Roman" panose="02020603050405020304" pitchFamily="18" charset="0"/>
              </a:rPr>
              <a:t>1. Low level    2. High level      3. Subsystem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278765"/>
            <a:ext cx="7620000" cy="6122035"/>
          </a:xfrm>
        </p:spPr>
        <p:txBody>
          <a:bodyPr/>
          <a:lstStyle/>
          <a:p>
            <a:pPr algn="just"/>
            <a:r>
              <a:rPr lang="en-US" sz="2400">
                <a:solidFill>
                  <a:srgbClr val="C00000"/>
                </a:solidFill>
                <a:latin typeface="Times New Roman" panose="02020603050405020304" pitchFamily="18" charset="0"/>
                <a:cs typeface="Times New Roman" panose="02020603050405020304" pitchFamily="18" charset="0"/>
              </a:rPr>
              <a:t>Low-level firmware:</a:t>
            </a:r>
            <a:r>
              <a:rPr lang="en-US" sz="2400">
                <a:latin typeface="Times New Roman" panose="02020603050405020304" pitchFamily="18" charset="0"/>
                <a:cs typeface="Times New Roman" panose="02020603050405020304" pitchFamily="18" charset="0"/>
              </a:rPr>
              <a:t> Low-level firmware is considered an intrinsic part of a device's hardware. It is often stored on non-volatile, read-only chips like ROM and therefore cannot be rewritten or updated. Devices containing low-level firmware have one-time programmable memory.</a:t>
            </a:r>
          </a:p>
          <a:p>
            <a:pPr algn="just"/>
            <a:r>
              <a:rPr lang="en-US" sz="2400">
                <a:solidFill>
                  <a:srgbClr val="C00000"/>
                </a:solidFill>
                <a:latin typeface="Times New Roman" panose="02020603050405020304" pitchFamily="18" charset="0"/>
                <a:cs typeface="Times New Roman" panose="02020603050405020304" pitchFamily="18" charset="0"/>
              </a:rPr>
              <a:t>High-level firmware:</a:t>
            </a:r>
            <a:r>
              <a:rPr lang="en-US" sz="2400">
                <a:latin typeface="Times New Roman" panose="02020603050405020304" pitchFamily="18" charset="0"/>
                <a:cs typeface="Times New Roman" panose="02020603050405020304" pitchFamily="18" charset="0"/>
              </a:rPr>
              <a:t> High level firmware does allow updates and is generally more complex than low-level firmware. In a computer, high-level firmware resides on flash memory chips.</a:t>
            </a:r>
          </a:p>
          <a:p>
            <a:pPr algn="just"/>
            <a:r>
              <a:rPr lang="en-US" sz="2400">
                <a:solidFill>
                  <a:srgbClr val="C00000"/>
                </a:solidFill>
                <a:latin typeface="Times New Roman" panose="02020603050405020304" pitchFamily="18" charset="0"/>
                <a:cs typeface="Times New Roman" panose="02020603050405020304" pitchFamily="18" charset="0"/>
              </a:rPr>
              <a:t>Subsystem firmware:</a:t>
            </a:r>
            <a:r>
              <a:rPr lang="en-US" sz="2400">
                <a:latin typeface="Times New Roman" panose="02020603050405020304" pitchFamily="18" charset="0"/>
                <a:cs typeface="Times New Roman" panose="02020603050405020304" pitchFamily="18" charset="0"/>
              </a:rPr>
              <a:t> Subsystem firmware often comes as part of an embedded system. It is comparable to high-level firmware in that it can be updated and is more complex than low-level firmware. One example is a server's power subsystem, which is a piece of server hardware that functions semi-independently from the server.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7620000" cy="442595"/>
          </a:xfrm>
        </p:spPr>
        <p:txBody>
          <a:bodyPr/>
          <a:lstStyle/>
          <a:p>
            <a:r>
              <a:rPr lang="en-US" sz="3200">
                <a:solidFill>
                  <a:srgbClr val="C00000"/>
                </a:solidFill>
                <a:latin typeface="Times New Roman" panose="02020603050405020304" pitchFamily="18" charset="0"/>
                <a:cs typeface="Times New Roman" panose="02020603050405020304" pitchFamily="18" charset="0"/>
              </a:rPr>
              <a:t>Middleware</a:t>
            </a:r>
          </a:p>
        </p:txBody>
      </p:sp>
      <p:sp>
        <p:nvSpPr>
          <p:cNvPr id="3" name="Content Placeholder 2"/>
          <p:cNvSpPr>
            <a:spLocks noGrp="1"/>
          </p:cNvSpPr>
          <p:nvPr>
            <p:ph idx="1"/>
          </p:nvPr>
        </p:nvSpPr>
        <p:spPr>
          <a:xfrm>
            <a:off x="457200" y="918210"/>
            <a:ext cx="7620000" cy="5482590"/>
          </a:xfrm>
        </p:spPr>
        <p:txBody>
          <a:bodyPr/>
          <a:lstStyle/>
          <a:p>
            <a:r>
              <a:rPr lang="en-US" sz="2400">
                <a:latin typeface="Times New Roman" panose="02020603050405020304" pitchFamily="18" charset="0"/>
                <a:cs typeface="Times New Roman" panose="02020603050405020304" pitchFamily="18" charset="0"/>
              </a:rPr>
              <a:t>Middleware is software that lies between an operating system and the applications running on it. Essentially functioning as hidden translation layer, middleware enables communication and data management for distributed applications.</a:t>
            </a:r>
          </a:p>
          <a:p>
            <a:r>
              <a:rPr lang="en-US" sz="2400">
                <a:latin typeface="Times New Roman" panose="02020603050405020304" pitchFamily="18" charset="0"/>
                <a:cs typeface="Times New Roman" panose="02020603050405020304" pitchFamily="18" charset="0"/>
              </a:rPr>
              <a:t>Middleware is a type of software that glues together two already existing separate applications. It mediates between two different types of applications and provides services that are otherwise not provided by the underlying operating system.</a:t>
            </a:r>
          </a:p>
          <a:p>
            <a:r>
              <a:rPr lang="en-US" sz="2400">
                <a:latin typeface="Times New Roman" panose="02020603050405020304" pitchFamily="18" charset="0"/>
                <a:cs typeface="Times New Roman" panose="02020603050405020304" pitchFamily="18" charset="0"/>
              </a:rPr>
              <a:t>Middleware is a set of data and tools which enables different applications to use the resources and services in a networked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57860" y="382270"/>
            <a:ext cx="7358380" cy="5838825"/>
          </a:xfrm>
          <a:prstGeom prst="rect">
            <a:avLst/>
          </a:prstGeom>
          <a:noFill/>
        </p:spPr>
        <p:txBody>
          <a:bodyPr wrap="square" rtlCol="0" anchor="t">
            <a:noAutofit/>
          </a:bodyPr>
          <a:lstStyle/>
          <a:p>
            <a:pPr marL="342900" indent="-342900"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sym typeface="+mn-ea"/>
              </a:rPr>
              <a:t>The main difference between firmware and middleware is that the firmware is a type of software that allows controlling the device's hardware while the middleware is a software that provides services to software applications beyond those available from the operating system.</a:t>
            </a:r>
          </a:p>
          <a:p>
            <a:pPr algn="just"/>
            <a:endParaRPr lang="en-US" sz="24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sym typeface="+mn-ea"/>
              </a:rPr>
              <a:t>USB drives, hard drives and other portable storage devices contain basic firmware that enable them to function with a computer. Mobile devices. Mobile phones, tablets, laptops and other mobile devices all contain firmware that let the hardware work with various software.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7620000" cy="671830"/>
          </a:xfrm>
        </p:spPr>
        <p:txBody>
          <a:bodyPr/>
          <a:lstStyle/>
          <a:p>
            <a:r>
              <a:rPr lang="en-US" sz="2800" dirty="0">
                <a:solidFill>
                  <a:srgbClr val="C00000"/>
                </a:solidFill>
                <a:latin typeface="Times New Roman" panose="02020603050405020304" pitchFamily="18" charset="0"/>
                <a:cs typeface="Times New Roman" panose="02020603050405020304" pitchFamily="18" charset="0"/>
                <a:sym typeface="+mn-ea"/>
              </a:rPr>
              <a:t>Procuring Computer Software</a:t>
            </a:r>
          </a:p>
        </p:txBody>
      </p:sp>
      <p:sp>
        <p:nvSpPr>
          <p:cNvPr id="3" name="Content Placeholder 2"/>
          <p:cNvSpPr>
            <a:spLocks noGrp="1"/>
          </p:cNvSpPr>
          <p:nvPr>
            <p:ph idx="1"/>
          </p:nvPr>
        </p:nvSpPr>
        <p:spPr>
          <a:xfrm>
            <a:off x="457200" y="1041400"/>
            <a:ext cx="7620000" cy="5359400"/>
          </a:xfrm>
        </p:spPr>
        <p:txBody>
          <a:bodyPr>
            <a:normAutofit/>
          </a:bodyPr>
          <a:lstStyle/>
          <a:p>
            <a:r>
              <a:rPr lang="en-US" sz="2400">
                <a:latin typeface="Times New Roman" panose="02020603050405020304" pitchFamily="18" charset="0"/>
                <a:cs typeface="Times New Roman" panose="02020603050405020304" pitchFamily="18" charset="0"/>
              </a:rPr>
              <a:t>When we buy a computer, we are just purchasing the hardware.</a:t>
            </a:r>
          </a:p>
          <a:p>
            <a:r>
              <a:rPr lang="en-US" sz="2400">
                <a:latin typeface="Times New Roman" panose="02020603050405020304" pitchFamily="18" charset="0"/>
                <a:cs typeface="Times New Roman" panose="02020603050405020304" pitchFamily="18" charset="0"/>
              </a:rPr>
              <a:t>The absence of the required software the computer is just a useless machine.</a:t>
            </a:r>
          </a:p>
          <a:p>
            <a:r>
              <a:rPr lang="en-US" sz="2400">
                <a:latin typeface="Times New Roman" panose="02020603050405020304" pitchFamily="18" charset="0"/>
                <a:cs typeface="Times New Roman" panose="02020603050405020304" pitchFamily="18" charset="0"/>
              </a:rPr>
              <a:t>Hence, to make the computer functional and useful, we need to acquire software.</a:t>
            </a:r>
          </a:p>
          <a:p>
            <a:r>
              <a:rPr lang="en-US" sz="2400">
                <a:latin typeface="Times New Roman" panose="02020603050405020304" pitchFamily="18" charset="0"/>
                <a:cs typeface="Times New Roman" panose="02020603050405020304" pitchFamily="18" charset="0"/>
              </a:rPr>
              <a:t>The software procurement process is the strategic acquisition of software solutions to meet operational needs and drive business objectives. </a:t>
            </a:r>
          </a:p>
          <a:p>
            <a:r>
              <a:rPr lang="en-US" sz="2400">
                <a:latin typeface="Times New Roman" panose="02020603050405020304" pitchFamily="18" charset="0"/>
                <a:cs typeface="Times New Roman" panose="02020603050405020304" pitchFamily="18" charset="0"/>
              </a:rPr>
              <a:t>Softwares can be acquired in three ways:</a:t>
            </a:r>
          </a:p>
          <a:p>
            <a:pPr marL="114300" indent="0">
              <a:buNone/>
            </a:pPr>
            <a:r>
              <a:rPr lang="en-US" sz="2400">
                <a:latin typeface="Times New Roman" panose="02020603050405020304" pitchFamily="18" charset="0"/>
                <a:cs typeface="Times New Roman" panose="02020603050405020304" pitchFamily="18" charset="0"/>
              </a:rPr>
              <a:t>     1. Buying pre-written software</a:t>
            </a:r>
          </a:p>
          <a:p>
            <a:pPr marL="114300" indent="0">
              <a:buNone/>
            </a:pPr>
            <a:r>
              <a:rPr lang="en-US" sz="2400">
                <a:latin typeface="Times New Roman" panose="02020603050405020304" pitchFamily="18" charset="0"/>
                <a:cs typeface="Times New Roman" panose="02020603050405020304" pitchFamily="18" charset="0"/>
              </a:rPr>
              <a:t>     2. Having customized software</a:t>
            </a:r>
          </a:p>
          <a:p>
            <a:pPr marL="114300" indent="0">
              <a:buNone/>
            </a:pPr>
            <a:r>
              <a:rPr lang="en-US" sz="2400">
                <a:latin typeface="Times New Roman" panose="02020603050405020304" pitchFamily="18" charset="0"/>
                <a:cs typeface="Times New Roman" panose="02020603050405020304" pitchFamily="18" charset="0"/>
              </a:rPr>
              <a:t>     3. Downloading public domain software</a:t>
            </a:r>
          </a:p>
          <a:p>
            <a:pPr marL="114300" indent="0">
              <a:buNone/>
            </a:pP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12775"/>
            <a:ext cx="7620000" cy="5788025"/>
          </a:xfrm>
        </p:spPr>
        <p:txBody>
          <a:bodyPr/>
          <a:lstStyle/>
          <a:p>
            <a:pPr marL="114300" indent="0">
              <a:buNone/>
            </a:pPr>
            <a:r>
              <a:rPr lang="en-US" sz="2400">
                <a:solidFill>
                  <a:srgbClr val="C00000"/>
                </a:solidFill>
                <a:latin typeface="Times New Roman" panose="02020603050405020304" pitchFamily="18" charset="0"/>
                <a:cs typeface="Times New Roman" panose="02020603050405020304" pitchFamily="18" charset="0"/>
              </a:rPr>
              <a:t>Key steps in the software procurement process include:</a:t>
            </a:r>
          </a:p>
          <a:p>
            <a:r>
              <a:rPr lang="en-US" sz="2400">
                <a:latin typeface="Times New Roman" panose="02020603050405020304" pitchFamily="18" charset="0"/>
                <a:cs typeface="Times New Roman" panose="02020603050405020304" pitchFamily="18" charset="0"/>
              </a:rPr>
              <a:t>Identifying software needs</a:t>
            </a:r>
          </a:p>
          <a:p>
            <a:r>
              <a:rPr lang="en-US" sz="2400">
                <a:latin typeface="Times New Roman" panose="02020603050405020304" pitchFamily="18" charset="0"/>
                <a:cs typeface="Times New Roman" panose="02020603050405020304" pitchFamily="18" charset="0"/>
              </a:rPr>
              <a:t>Evaluating options based on functionality and suitability</a:t>
            </a:r>
          </a:p>
          <a:p>
            <a:r>
              <a:rPr lang="en-US" sz="2400">
                <a:latin typeface="Times New Roman" panose="02020603050405020304" pitchFamily="18" charset="0"/>
                <a:cs typeface="Times New Roman" panose="02020603050405020304" pitchFamily="18" charset="0"/>
              </a:rPr>
              <a:t>Selecting vendors</a:t>
            </a:r>
          </a:p>
          <a:p>
            <a:r>
              <a:rPr lang="en-US" sz="2400">
                <a:latin typeface="Times New Roman" panose="02020603050405020304" pitchFamily="18" charset="0"/>
                <a:cs typeface="Times New Roman" panose="02020603050405020304" pitchFamily="18" charset="0"/>
              </a:rPr>
              <a:t>Negotiating favorable contracts</a:t>
            </a:r>
          </a:p>
          <a:p>
            <a:r>
              <a:rPr lang="en-US" sz="2400">
                <a:latin typeface="Times New Roman" panose="02020603050405020304" pitchFamily="18" charset="0"/>
                <a:cs typeface="Times New Roman" panose="02020603050405020304" pitchFamily="18" charset="0"/>
              </a:rPr>
              <a:t>Ensuring seamless integration</a:t>
            </a:r>
          </a:p>
          <a:p>
            <a:r>
              <a:rPr lang="en-US" sz="2400">
                <a:latin typeface="Times New Roman" panose="02020603050405020304" pitchFamily="18" charset="0"/>
                <a:cs typeface="Times New Roman" panose="02020603050405020304" pitchFamily="18" charset="0"/>
              </a:rPr>
              <a:t>Continuous monitoring and evaluation of software performance </a:t>
            </a:r>
          </a:p>
          <a:p>
            <a:pPr marL="114300" indent="0">
              <a:buNone/>
            </a:pP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2</TotalTime>
  <Words>2050</Words>
  <Application>Microsoft Office PowerPoint</Application>
  <PresentationFormat>On-screen Show (4:3)</PresentationFormat>
  <Paragraphs>114</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Times New Roman</vt:lpstr>
      <vt:lpstr>Wingdings</vt:lpstr>
      <vt:lpstr>Adjacency</vt:lpstr>
      <vt:lpstr>FUNDAMENTALS OF COMPUTERS</vt:lpstr>
      <vt:lpstr>UNIT-III Computer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Multimedia Software</vt:lpstr>
      <vt:lpstr>Database Management Software</vt:lpstr>
      <vt:lpstr>PowerPoint Presentation</vt:lpstr>
      <vt:lpstr>Firmware</vt:lpstr>
      <vt:lpstr>PowerPoint Presentation</vt:lpstr>
      <vt:lpstr>Middleware</vt:lpstr>
      <vt:lpstr>PowerPoint Presentation</vt:lpstr>
      <vt:lpstr>Procuring Computer Software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ESSENTIALS</dc:title>
  <dc:creator/>
  <cp:lastModifiedBy>veer raju</cp:lastModifiedBy>
  <cp:revision>172</cp:revision>
  <dcterms:created xsi:type="dcterms:W3CDTF">2006-08-16T00:00:00Z</dcterms:created>
  <dcterms:modified xsi:type="dcterms:W3CDTF">2025-10-08T08:06:30Z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E2D9B16EACE149E197BC2A8A19D8BF3A_13</vt:lpwstr>
  </property>
  <property fmtid="{D5CDD505-2E9C-101B-9397-08002B2CF9AE}" pid="3" name="KSOProductBuildVer">
    <vt:lpwstr>1033-12.2.0.18283</vt:lpwstr>
  </property>
</Properties>
</file>